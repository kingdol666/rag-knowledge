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25301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6667500"/>
            <a:ext cx="12192000" cy="12650"/>
          </a:xfrm>
          <a:prstGeom prst="rect">
            <a:avLst/>
          </a:prstGeom>
          <a:solidFill>
            <a:srgbClr val="E5E0D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38722" y="152400"/>
            <a:ext cx="4145179" cy="142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commit 5f9faac · review/retrieval-e2e-20261012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62743" y="6629400"/>
            <a:ext cx="673557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466725"/>
            <a:ext cx="2072580" cy="234404"/>
          </a:xfrm>
          <a:prstGeom prst="roundRect">
            <a:avLst>
              <a:gd name="adj" fmla="val 10836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2250" y="504825"/>
            <a:ext cx="1880860" cy="1455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BENCHMARK 实测报告 · 2026-10-12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7950" y="838200"/>
            <a:ext cx="6425133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三种检索模式端到端实测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7950" y="1234380"/>
            <a:ext cx="6425133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1B2A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A/C 车道全绿，B 车道暴露 </a:t>
            </a:r>
            <a:r>
              <a:rPr lang="en-US" sz="2400" b="1" dirty="0">
                <a:solidFill>
                  <a:srgbClr val="C8963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 个系统性盲区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7950" y="1803350"/>
            <a:ext cx="762000" cy="31700"/>
          </a:xfrm>
          <a:prstGeom prst="rect">
            <a:avLst/>
          </a:prstGeom>
          <a:solidFill>
            <a:srgbClr val="C896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2006501"/>
            <a:ext cx="258979" cy="188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7301" y="2006501"/>
            <a:ext cx="6140196" cy="5902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问题集 =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3 题同题集：cm1 InstructDS 对话摘要数据合成（金标 arXiv:2310.10981，库=计算机与人工智能，131 文档）；cm2 EHR 中风预测（金标 arXiv:1904.11280，库=生命科学与医学，53 文档）；cm3 Herbert-Moulton collider 为域外题——全库无覆盖，应如实拒答。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799904"/>
            <a:ext cx="258979" cy="188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7301" y="2799904"/>
            <a:ext cx="6140196" cy="5902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三通道 =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全部经官方对外 API（POST /api/claude/chat，engine=claude，kbEnhanced=true），与外部调用方完全同构：harness 流式 SSE 逐工具时间线 9 跑；exp --chatmodes 非流式系统臂 9 跑机器门禁；exp --retmodes 纯检索矩阵 12 跑（3 模式 + 3 baseline，无 LLM 回答）。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3593306"/>
            <a:ext cx="258979" cy="188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7301" y="3593306"/>
            <a:ext cx="6140196" cy="5902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门禁口径 =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拒答优先修正版——原 marker 门只查是否含金标词，会被“拒答复述问题关键词”欺骗（拒答文本含 InstructDS 即误判 PASS）；修正后统一取结论窗口前 500 字，通道1 8/9 · 通道2 8/9 · 通道3 金标 12/12。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5105400"/>
            <a:ext cx="6299150" cy="12650"/>
          </a:xfrm>
          <a:prstGeom prst="rect">
            <a:avLst/>
          </a:prstGeom>
          <a:solidFill>
            <a:srgbClr val="E5E0D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7950" y="5257800"/>
            <a:ext cx="1554480" cy="3211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7950" y="5578971"/>
            <a:ext cx="1554480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个真实检索臂</a:t>
            </a:r>
            <a:endParaRPr lang="en-US" sz="80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（通道 9+9+12 跑）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31950" y="5257800"/>
            <a:ext cx="1554480" cy="339477"/>
          </a:xfrm>
          <a:prstGeom prst="rect">
            <a:avLst/>
          </a:prstGeom>
          <a:noFill/>
        </p:spPr>
        <p:txBody>
          <a:bodyPr wrap="square" lIns="0" tIns="50800" rIns="0" bIns="0" rtlCol="0" anchor="t"/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8/9 · 8/9 · 12/12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31950" y="5597277"/>
            <a:ext cx="1554480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三通道门禁</a:t>
            </a:r>
            <a:endParaRPr lang="en-US" sz="80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（拒答优先口径）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55950" y="5257800"/>
            <a:ext cx="1554480" cy="3211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13–54×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55950" y="5578971"/>
            <a:ext cx="1554480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历史提速（B/C 车道）</a:t>
            </a:r>
            <a:endParaRPr lang="en-US" sz="80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09-26 → 10-12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79950" y="5257800"/>
            <a:ext cx="1761693" cy="332631"/>
          </a:xfrm>
          <a:prstGeom prst="rect">
            <a:avLst/>
          </a:prstGeom>
          <a:noFill/>
        </p:spPr>
        <p:txBody>
          <a:bodyPr wrap="square" lIns="0" tIns="1270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$0.18–0.30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79950" y="5590431"/>
            <a:ext cx="1761693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成本/题 · 通道2 均值</a:t>
            </a:r>
            <a:endParaRPr lang="en-US" sz="80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（0.182 / 0.300 / 0.219）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11901" y="3174950"/>
            <a:ext cx="466344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 1 ｜ 三条并行检索车道各自携带数据点流，汇入同一座知识库建筑；其中一条车道末端设“裁决”节点 = Laya 判卷引擎。概念示意，非数据图。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11901" y="3657600"/>
            <a:ext cx="4572000" cy="12650"/>
          </a:xfrm>
          <a:prstGeom prst="rect">
            <a:avLst/>
          </a:prstGeom>
          <a:solidFill>
            <a:srgbClr val="E5E0D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11901" y="3759101"/>
            <a:ext cx="4663440" cy="1564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三车道执行流（通道1 实测 · SSE 逐工具还原）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11901" y="4038600"/>
            <a:ext cx="181255" cy="183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051" y="4038600"/>
            <a:ext cx="4456227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kb_search_two_stage + kb_search_vector 并行宽网（0.8–1.0s）→ kb_laya_judge 判卷 + kb_doc_read 全文（并行 9–10s）→ 作答（55.7 / 48.8 / 36.4s）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11901" y="4484191"/>
            <a:ext cx="181255" cy="183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051" y="4484191"/>
            <a:ext cx="4456227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kb_list 全库目录 → kb_get_documents 描述层扫描 → kb_laya_judge 判卷；cm1 兜底 kb_search_vector 挂起 300.0s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11901" y="4929783"/>
            <a:ext cx="181255" cy="183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051" y="4929783"/>
            <a:ext cx="4456227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宽网并行 → kb_laya_judge → kb_doc_read；证据不足补 kb_list 逐级核查（cm3 判 36 段后如实拒答，65.0s）</a:t>
            </a:r>
            <a:endParaRPr lang="en-US" sz="900" dirty="0"/>
          </a:p>
        </p:txBody>
      </p:sp>
      <p:pic>
        <p:nvPicPr>
          <p:cNvPr id="35" name="Image 0" descr="D:\codes\ClaudeGPT\rag_project\rag-knowledge\review\retrieval-e2e-20261012\ppt_workspace\garden-gpt-image-2\image\p01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901" y="50795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150" y="72033"/>
            <a:ext cx="7799421" cy="3129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同题对照：三模式全部真实命中金标；baseline 只会“返回”，不会判卷与拒答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083701" y="101501"/>
            <a:ext cx="1905000" cy="253901"/>
          </a:xfrm>
          <a:prstGeom prst="roundRect">
            <a:avLst>
              <a:gd name="adj" fmla="val 15006"/>
            </a:avLst>
          </a:prstGeom>
          <a:solidFill>
            <a:srgbClr val="0000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47437" y="151358"/>
            <a:ext cx="1201079" cy="1541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同题同金标 · 12 跑矩阵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000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3150" y="6629995"/>
            <a:ext cx="5321210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Knowledge 平台 · 检索端到端三通道实测 · 2026-10-12 · commit 5f9faac · 门禁口径：拒答优先修正版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616928" y="6616750"/>
            <a:ext cx="171995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3150" y="584150"/>
            <a:ext cx="7448449" cy="1748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95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 1 ｜ 通道3 纯检索矩阵（--retmodes · 12 跑，无 LLM 回答）— 金标 12/12（脚本臂 6/6 + baseline 6/6）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3150" y="787301"/>
            <a:ext cx="7302401" cy="253901"/>
          </a:xfrm>
          <a:prstGeom prst="rect">
            <a:avLst/>
          </a:prstGeom>
          <a:solidFill>
            <a:srgbClr val="0000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6551" y="834182"/>
            <a:ext cx="104927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95251" y="834182"/>
            <a:ext cx="67355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55602" y="834182"/>
            <a:ext cx="13990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q1 / q2 耗时 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7202" y="834182"/>
            <a:ext cx="134711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docs / 排名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7902" y="834182"/>
            <a:ext cx="291465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性质与能力差异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3150" y="1041350"/>
            <a:ext cx="7302401" cy="406301"/>
          </a:xfrm>
          <a:prstGeom prst="rect">
            <a:avLst/>
          </a:prstGeom>
          <a:solidFill>
            <a:srgbClr val="FF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03150" y="1046113"/>
            <a:ext cx="7302401" cy="0"/>
          </a:xfrm>
          <a:prstGeom prst="line">
            <a:avLst/>
          </a:prstGeom>
          <a:noFill/>
          <a:ln w="9525">
            <a:solidFill>
              <a:srgbClr val="C9D3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963" y="1041350"/>
            <a:ext cx="0" cy="406301"/>
          </a:xfrm>
          <a:prstGeom prst="line">
            <a:avLst/>
          </a:prstGeom>
          <a:noFill/>
          <a:ln w="47625">
            <a:solidFill>
              <a:srgbClr val="A500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4176" y="1155948"/>
            <a:ext cx="99750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A5002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mode_A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92126" y="1160413"/>
            <a:ext cx="673557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52476" y="1155948"/>
            <a:ext cx="1399032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25.0 / 22.7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24076" y="1160413"/>
            <a:ext cx="1347115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18 / 18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44777" y="1164729"/>
            <a:ext cx="2914650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活库 + Laya 判卷 · 跨书架取证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3150" y="1447800"/>
            <a:ext cx="7302401" cy="406301"/>
          </a:xfrm>
          <a:prstGeom prst="rect">
            <a:avLst/>
          </a:prstGeom>
          <a:solidFill>
            <a:srgbClr val="FF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03150" y="1452562"/>
            <a:ext cx="7302401" cy="0"/>
          </a:xfrm>
          <a:prstGeom prst="line">
            <a:avLst/>
          </a:prstGeom>
          <a:noFill/>
          <a:ln w="9525">
            <a:solidFill>
              <a:srgbClr val="C9D3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6963" y="1447800"/>
            <a:ext cx="0" cy="406301"/>
          </a:xfrm>
          <a:prstGeom prst="line">
            <a:avLst/>
          </a:prstGeom>
          <a:noFill/>
          <a:ln w="47625">
            <a:solidFill>
              <a:srgbClr val="A500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176" y="1562398"/>
            <a:ext cx="99750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A5002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mode_B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92126" y="1566863"/>
            <a:ext cx="673557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52476" y="1562398"/>
            <a:ext cx="1399032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25.0 / 10.2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24076" y="1566863"/>
            <a:ext cx="1347115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23 / 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4777" y="1571179"/>
            <a:ext cx="2914650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脚本化图书管理员 · 词法扫描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3150" y="1854101"/>
            <a:ext cx="7302401" cy="406301"/>
          </a:xfrm>
          <a:prstGeom prst="rect">
            <a:avLst/>
          </a:prstGeom>
          <a:solidFill>
            <a:srgbClr val="FF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03150" y="1858863"/>
            <a:ext cx="7302401" cy="0"/>
          </a:xfrm>
          <a:prstGeom prst="line">
            <a:avLst/>
          </a:prstGeom>
          <a:noFill/>
          <a:ln w="9525">
            <a:solidFill>
              <a:srgbClr val="C9D3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63" y="1854101"/>
            <a:ext cx="0" cy="406301"/>
          </a:xfrm>
          <a:prstGeom prst="line">
            <a:avLst/>
          </a:prstGeom>
          <a:noFill/>
          <a:ln w="47625">
            <a:solidFill>
              <a:srgbClr val="A500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176" y="1968698"/>
            <a:ext cx="99750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A5002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mode_C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92126" y="1973163"/>
            <a:ext cx="673557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52476" y="1968698"/>
            <a:ext cx="1399032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37.3 / 33.7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24076" y="1973163"/>
            <a:ext cx="1347115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 / 12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44777" y="1977479"/>
            <a:ext cx="2914650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∥ B 并行合并 + 兜底核查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3150" y="2260550"/>
            <a:ext cx="7302401" cy="19050"/>
          </a:xfrm>
          <a:prstGeom prst="rect">
            <a:avLst/>
          </a:prstGeom>
          <a:solidFill>
            <a:srgbClr val="0000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03150" y="2286000"/>
            <a:ext cx="7302401" cy="40630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203150" y="2290763"/>
            <a:ext cx="7302401" cy="0"/>
          </a:xfrm>
          <a:prstGeom prst="line">
            <a:avLst/>
          </a:prstGeom>
          <a:noFill/>
          <a:ln w="9525">
            <a:solidFill>
              <a:srgbClr val="C9D3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6551" y="2400598"/>
            <a:ext cx="104927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bm25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295251" y="2405063"/>
            <a:ext cx="673557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955602" y="2405063"/>
            <a:ext cx="1399032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≈0 / ≈0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27202" y="2409379"/>
            <a:ext cx="1347115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 / 10 · rank-1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47902" y="2409379"/>
            <a:ext cx="2914650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本地静态 100 篇语料 · doc 级 · 无判卷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3150" y="2692301"/>
            <a:ext cx="7302401" cy="40630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203150" y="2697063"/>
            <a:ext cx="7302401" cy="0"/>
          </a:xfrm>
          <a:prstGeom prst="line">
            <a:avLst/>
          </a:prstGeom>
          <a:noFill/>
          <a:ln w="9525">
            <a:solidFill>
              <a:srgbClr val="C9D3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6551" y="2806898"/>
            <a:ext cx="104927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vector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295251" y="2811363"/>
            <a:ext cx="673557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955602" y="2811363"/>
            <a:ext cx="1399032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0.1 / 0.1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27202" y="2815679"/>
            <a:ext cx="1347115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 / 3 · rank-1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647902" y="2815679"/>
            <a:ext cx="2914650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平台向量 chunk 级 · 跨库口径 · 无判卷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03150" y="3098750"/>
            <a:ext cx="7302401" cy="40630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203150" y="3103513"/>
            <a:ext cx="7302401" cy="0"/>
          </a:xfrm>
          <a:prstGeom prst="line">
            <a:avLst/>
          </a:prstGeom>
          <a:noFill/>
          <a:ln w="9525">
            <a:solidFill>
              <a:srgbClr val="C9D3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6551" y="3213348"/>
            <a:ext cx="104927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rrf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295251" y="3217813"/>
            <a:ext cx="673557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955602" y="3217813"/>
            <a:ext cx="1399032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≈0 / ≈0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327202" y="3222129"/>
            <a:ext cx="1347115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 / 10 · rank-1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647902" y="3222129"/>
            <a:ext cx="2914650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bm25 + vector 融合 · 无判卷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03150" y="3581400"/>
            <a:ext cx="7448449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注：三行 baseline 只返回静态语料排名（doc / chunk 级）——不读全文、不判卷、无弃答能力。vector 余弦 0.756 / 0.842 见 09-26 retmodes 工件（本轮未记录 cosine）。q1 = cm1，q2 = cm2。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607201" y="584150"/>
            <a:ext cx="4469130" cy="1748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95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 1 ｜ 历史提速（同题同模式，秒）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607201" y="819001"/>
            <a:ext cx="88850" cy="88850"/>
          </a:xfrm>
          <a:prstGeom prst="rect">
            <a:avLst/>
          </a:prstGeom>
          <a:solidFill>
            <a:srgbClr val="8FA3B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696051" y="796826"/>
            <a:ext cx="1131400" cy="133350"/>
          </a:xfrm>
          <a:prstGeom prst="rect">
            <a:avLst/>
          </a:prstGeom>
          <a:noFill/>
        </p:spPr>
        <p:txBody>
          <a:bodyPr wrap="square" lIns="5080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09-26 基线（原文带 ~）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957667" y="819001"/>
            <a:ext cx="88850" cy="88850"/>
          </a:xfrm>
          <a:prstGeom prst="rect">
            <a:avLst/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9046518" y="796826"/>
            <a:ext cx="933447" cy="133350"/>
          </a:xfrm>
          <a:prstGeom prst="rect">
            <a:avLst/>
          </a:prstGeom>
          <a:noFill/>
        </p:spPr>
        <p:txBody>
          <a:bodyPr wrap="square" lIns="5080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10-12 当前（实测）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607201" y="1164580"/>
            <a:ext cx="54406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 · q1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140601" y="1047750"/>
            <a:ext cx="901601" cy="152400"/>
          </a:xfrm>
          <a:prstGeom prst="rect">
            <a:avLst/>
          </a:prstGeom>
          <a:solidFill>
            <a:srgbClr val="8FA3B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8140601" y="1289000"/>
            <a:ext cx="241250" cy="152400"/>
          </a:xfrm>
          <a:prstGeom prst="rect">
            <a:avLst/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0299502" y="1047750"/>
            <a:ext cx="777240" cy="1524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~342.0s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0299502" y="1289000"/>
            <a:ext cx="777240" cy="1524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A5002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25.0s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1508581" y="1120080"/>
            <a:ext cx="489570" cy="2489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5002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13.7×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7607201" y="1748730"/>
            <a:ext cx="54406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 · q2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140601" y="1631900"/>
            <a:ext cx="749201" cy="152400"/>
          </a:xfrm>
          <a:prstGeom prst="rect">
            <a:avLst/>
          </a:prstGeom>
          <a:solidFill>
            <a:srgbClr val="8FA3B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8140601" y="1873151"/>
            <a:ext cx="152400" cy="152400"/>
          </a:xfrm>
          <a:prstGeom prst="rect">
            <a:avLst/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0299502" y="1631900"/>
            <a:ext cx="777240" cy="1524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~234.0s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299502" y="1873151"/>
            <a:ext cx="777240" cy="1524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A5002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10.2s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1467356" y="1704231"/>
            <a:ext cx="531620" cy="2489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5002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22.9×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7607201" y="2332881"/>
            <a:ext cx="54406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 · q1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140601" y="2216051"/>
            <a:ext cx="1650950" cy="152400"/>
          </a:xfrm>
          <a:prstGeom prst="rect">
            <a:avLst/>
          </a:prstGeom>
          <a:solidFill>
            <a:srgbClr val="8FA3B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8140601" y="2457301"/>
            <a:ext cx="304800" cy="152400"/>
          </a:xfrm>
          <a:prstGeom prst="rect">
            <a:avLst/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10299502" y="2216051"/>
            <a:ext cx="777240" cy="1524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~1152.0s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0299502" y="2457301"/>
            <a:ext cx="777240" cy="1524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A5002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37.3s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1454408" y="2288381"/>
            <a:ext cx="544827" cy="2489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5002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30.9×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7607201" y="2917180"/>
            <a:ext cx="54406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00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 · q2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140601" y="2800350"/>
            <a:ext cx="2082701" cy="152400"/>
          </a:xfrm>
          <a:prstGeom prst="rect">
            <a:avLst/>
          </a:prstGeom>
          <a:solidFill>
            <a:srgbClr val="8FA3B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8140601" y="3041600"/>
            <a:ext cx="292001" cy="152400"/>
          </a:xfrm>
          <a:prstGeom prst="rect">
            <a:avLst/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10299502" y="2800350"/>
            <a:ext cx="777240" cy="1524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~1818.0s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10299502" y="3041600"/>
            <a:ext cx="777240" cy="1524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A5002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33.7s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11458724" y="2872680"/>
            <a:ext cx="540425" cy="2489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5002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54.0×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7607201" y="3327350"/>
            <a:ext cx="446913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条形长度按 √ 比例缩放（同组内可比），数值为实际秒数。基线列原文为约值（~）。A 臂口径已变更（13.3 / 7.4 → 25.0 / 22.7s，含 real-engine 硬门禁），与基线不可直接比。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203150" y="4038600"/>
            <a:ext cx="12021261" cy="1748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95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 2 ｜ 通道2 端到端开销（非流式系统臂 · 9 跑均值）＋ 能力差异：baseline 只会“返回”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203150" y="4292501"/>
            <a:ext cx="7302401" cy="571500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Shape 93"/>
          <p:cNvSpPr/>
          <p:nvPr/>
        </p:nvSpPr>
        <p:spPr>
          <a:xfrm>
            <a:off x="226963" y="4292501"/>
            <a:ext cx="0" cy="571500"/>
          </a:xfrm>
          <a:prstGeom prst="line">
            <a:avLst/>
          </a:prstGeom>
          <a:noFill/>
          <a:ln w="47625">
            <a:solidFill>
              <a:srgbClr val="00006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77726" y="4387751"/>
            <a:ext cx="381000" cy="381000"/>
          </a:xfrm>
          <a:prstGeom prst="roundRect">
            <a:avLst>
              <a:gd name="adj" fmla="val 6667"/>
            </a:avLst>
          </a:prstGeom>
          <a:solidFill>
            <a:srgbClr val="0000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503932" y="4458146"/>
            <a:ext cx="131007" cy="240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911126" y="4329261"/>
            <a:ext cx="327974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钉库向量快车道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911126" y="4515892"/>
            <a:ext cx="3279740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 </a:t>
            </a:r>
            <a:r>
              <a:rPr lang="en-US" sz="9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48.0s</a:t>
            </a: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（9 跑均值）· $0.182/题 · 门禁 3/3 · turns 5.3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11126" y="4684812"/>
            <a:ext cx="3279740" cy="142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cm1 / cm2 / cm3 = 53.0 / 65.3 / 25.7s（cm3 如实拒答）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203150" y="4940201"/>
            <a:ext cx="7302401" cy="571500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Shape 100"/>
          <p:cNvSpPr/>
          <p:nvPr/>
        </p:nvSpPr>
        <p:spPr>
          <a:xfrm>
            <a:off x="226963" y="4940201"/>
            <a:ext cx="0" cy="571500"/>
          </a:xfrm>
          <a:prstGeom prst="line">
            <a:avLst/>
          </a:prstGeom>
          <a:noFill/>
          <a:ln w="47625">
            <a:solidFill>
              <a:srgbClr val="A5002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77726" y="5035451"/>
            <a:ext cx="381000" cy="381000"/>
          </a:xfrm>
          <a:prstGeom prst="roundRect">
            <a:avLst>
              <a:gd name="adj" fmla="val 6667"/>
            </a:avLst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508843" y="5105846"/>
            <a:ext cx="120988" cy="240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911126" y="4976961"/>
            <a:ext cx="327215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全库逐级检索（图书管理员 spine）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911126" y="5163592"/>
            <a:ext cx="3272150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 66.4s（9 跑均值）· $0.300/题 · 门禁 </a:t>
            </a:r>
            <a:r>
              <a:rPr lang="en-US" sz="95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2/3</a:t>
            </a: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· turns 8.3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911126" y="5332512"/>
            <a:ext cx="3272150" cy="142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cm1 / cm2 / cm3 = </a:t>
            </a:r>
            <a:r>
              <a:rPr lang="en-US" sz="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41.4</a:t>
            </a: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91.9 / 66.0s（cm1 假拒答 </a:t>
            </a:r>
            <a:r>
              <a:rPr lang="en-US" sz="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203150" y="5587901"/>
            <a:ext cx="7302401" cy="571500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Shape 107"/>
          <p:cNvSpPr/>
          <p:nvPr/>
        </p:nvSpPr>
        <p:spPr>
          <a:xfrm>
            <a:off x="226963" y="5587901"/>
            <a:ext cx="0" cy="571500"/>
          </a:xfrm>
          <a:prstGeom prst="line">
            <a:avLst/>
          </a:prstGeom>
          <a:noFill/>
          <a:ln w="47625">
            <a:solidFill>
              <a:srgbClr val="00006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77726" y="5683151"/>
            <a:ext cx="381000" cy="381000"/>
          </a:xfrm>
          <a:prstGeom prst="roundRect">
            <a:avLst>
              <a:gd name="adj" fmla="val 6667"/>
            </a:avLst>
          </a:prstGeom>
          <a:solidFill>
            <a:srgbClr val="0000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503932" y="5753546"/>
            <a:ext cx="131007" cy="240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</a:t>
            </a:r>
            <a:endParaRPr lang="en-US" sz="1400" dirty="0"/>
          </a:p>
        </p:txBody>
      </p:sp>
      <p:sp>
        <p:nvSpPr>
          <p:cNvPr id="112" name="Text 110"/>
          <p:cNvSpPr/>
          <p:nvPr/>
        </p:nvSpPr>
        <p:spPr>
          <a:xfrm>
            <a:off x="911126" y="5624661"/>
            <a:ext cx="327974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混合检索（宽网 + 判卷 + 逐级兜底）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911126" y="5811292"/>
            <a:ext cx="3279740" cy="16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 </a:t>
            </a:r>
            <a:r>
              <a:rPr lang="en-US" sz="9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68.9s</a:t>
            </a: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（9 跑均值）· $0.219/题 · 门禁 3/3 · turns 7.0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911126" y="5980212"/>
            <a:ext cx="3279740" cy="142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cm1 / cm2 / cm3 = 58.3 / 100.0 / 48.3s（cm3 如实拒答）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7607201" y="4343251"/>
            <a:ext cx="63401" cy="63401"/>
          </a:xfrm>
          <a:prstGeom prst="rect">
            <a:avLst/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7784902" y="4292501"/>
            <a:ext cx="428787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活库取证：跨 18 个知识库 / 131·53 文档；保底 docs 18/18 · 23/11 · 12/12（baseline 仅本地静态 100 篇、chunk 级）。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607201" y="4851350"/>
            <a:ext cx="63401" cy="63401"/>
          </a:xfrm>
          <a:prstGeom prst="rect">
            <a:avLst/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7784902" y="4800600"/>
            <a:ext cx="428787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判卷 + 读全文：答案带引文与数字（Laya 判卷 8/8 段存活、最高分 0.94；MLP 最高 75.02%）。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7607201" y="5359301"/>
            <a:ext cx="63401" cy="63401"/>
          </a:xfrm>
          <a:prstGeom prst="rect">
            <a:avLst/>
          </a:prstGeom>
          <a:solidFill>
            <a:srgbClr val="A5002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0" name="Text 118"/>
          <p:cNvSpPr/>
          <p:nvPr/>
        </p:nvSpPr>
        <p:spPr>
          <a:xfrm>
            <a:off x="7784902" y="5308550"/>
            <a:ext cx="428787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弃答纪律（通道1）：域外题 cm3 三模式如实拒答 A 36.4 / B 29.9 / C 65.0s；baseline 无弃答能力 → 必然假阳性。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607201" y="5943600"/>
            <a:ext cx="446913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来源：通道2 run chatmodes-20261012T061102Z-5f9faac ｜ 通道3 run-20261012T062847Z-5f9faac ｜ 通道1 c1_*.json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25301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6667500"/>
            <a:ext cx="12192000" cy="12650"/>
          </a:xfrm>
          <a:prstGeom prst="rect">
            <a:avLst/>
          </a:prstGeom>
          <a:solidFill>
            <a:srgbClr val="E5E0D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38722" y="152400"/>
            <a:ext cx="4145179" cy="142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2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FINDINGS &amp; VERDICT · 2026-10-12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62743" y="6629400"/>
            <a:ext cx="673557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330101"/>
            <a:ext cx="6541719" cy="6706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一个诚实的负结果：131 文档书架工具返回超引擎预算</a:t>
            </a:r>
            <a:endParaRPr lang="en-US" sz="2000" dirty="0"/>
          </a:p>
          <a:p>
            <a:pPr marL="0" indent="0" algn="l">
              <a:lnSpc>
                <a:spcPts val="2640"/>
              </a:lnSpc>
              <a:buNone/>
            </a:pPr>
            <a:r>
              <a:rPr lang="zh-CN" altLang="en-US" sz="2000" b="1" dirty="0">
                <a:solidFill>
                  <a:srgbClr val="C8963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（</a:t>
            </a:r>
            <a:r>
              <a:rPr lang="en-US" sz="2000" b="1" dirty="0">
                <a:solidFill>
                  <a:srgbClr val="C8963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74.9KB→仅 2KB 预览</a:t>
            </a:r>
            <a:r>
              <a:rPr lang="zh-CN" altLang="en-US" sz="2000" b="1" dirty="0">
                <a:solidFill>
                  <a:srgbClr val="C8963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）</a:t>
            </a:r>
            <a:r>
              <a:rPr lang="en-US" sz="2000" dirty="0">
                <a:solidFill>
                  <a:srgbClr val="1B2A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——机械化扫描 </a:t>
            </a:r>
            <a:r>
              <a:rPr lang="en-US" sz="2000" b="1" dirty="0">
                <a:solidFill>
                  <a:srgbClr val="C8963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25s</a:t>
            </a:r>
            <a:r>
              <a:rPr lang="en-US" sz="2000" dirty="0">
                <a:solidFill>
                  <a:srgbClr val="1B2A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 命中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1193750"/>
            <a:ext cx="762000" cy="31700"/>
          </a:xfrm>
          <a:prstGeom prst="rect">
            <a:avLst/>
          </a:prstGeom>
          <a:solidFill>
            <a:srgbClr val="C896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50" y="1320701"/>
            <a:ext cx="6386271" cy="1564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缺陷证据链：两次独立复现（流式 + 非流式）+ 一次挂起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7950" y="1549301"/>
            <a:ext cx="233172" cy="183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1851" y="1549301"/>
            <a:ext cx="6127293" cy="3756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0"/>
              </a:lnSpc>
              <a:buNone/>
            </a:pPr>
            <a:r>
              <a:rPr lang="en-US" sz="10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353.5s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假拒答（通道1 流式）：kb_search_vector 兜底调用挂起 </a:t>
            </a:r>
            <a:r>
              <a:rPr lang="en-US" sz="1000" b="1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300.0s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（恰为 MCP 超时），检索工具净耗时 319.5s。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031950"/>
            <a:ext cx="233172" cy="183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1851" y="2031950"/>
            <a:ext cx="6127293" cy="3756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0"/>
              </a:lnSpc>
              <a:buNone/>
            </a:pPr>
            <a:r>
              <a:rPr lang="en-US" sz="10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41.4s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假拒答（通道2 非流式，独立会话复现）——系统性缺陷、非偶发：原始 marker 门被问题回显欺骗 </a:t>
            </a:r>
            <a:r>
              <a:rPr lang="en-US" sz="1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，修正口径 </a:t>
            </a:r>
            <a:r>
              <a:rPr lang="en-US" sz="10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514600"/>
            <a:ext cx="233172" cy="183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1851" y="2514600"/>
            <a:ext cx="6127293" cy="1878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0"/>
              </a:lnSpc>
              <a:buNone/>
            </a:pPr>
            <a:r>
              <a:rPr lang="en-US" sz="10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602.0s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挂起、零答案产出：two_stage 挂 300.0s + permission_request 无人审批，客户端 600s 超时。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3022550"/>
            <a:ext cx="6261050" cy="1219200"/>
          </a:xfrm>
          <a:prstGeom prst="rect">
            <a:avLst/>
          </a:prstGeom>
          <a:solidFill>
            <a:srgbClr val="FEF9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27000" y="3022550"/>
            <a:ext cx="0" cy="1219200"/>
          </a:xfrm>
          <a:prstGeom prst="line">
            <a:avLst/>
          </a:prstGeom>
          <a:noFill/>
          <a:ln w="38100">
            <a:solidFill>
              <a:srgbClr val="C896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450" y="3136850"/>
            <a:ext cx="6036513" cy="676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根因（会话转录取证）：</a:t>
            </a:r>
            <a:r>
              <a:rPr lang="en-US" sz="9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kb_get_documents(lightweight) 对 131 文档书架返回 </a:t>
            </a:r>
            <a:r>
              <a:rPr lang="en-US" sz="9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74.9KB</a:t>
            </a:r>
            <a:r>
              <a:rPr lang="en-US" sz="9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catalog——超过引擎工具输出预算，引擎将完整输出落盘、仅向模型透传 </a:t>
            </a:r>
            <a:r>
              <a:rPr lang="en-US" sz="900" b="1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2KB 预览</a:t>
            </a:r>
            <a:r>
              <a:rPr lang="en-US" sz="9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（Output too large…Preview (first 2KB)），模型实际只见约 2-3 个文档。对照：53 文档书架 33.1KB / 75 文档书架 46.7KB 均在预算内正常透传。</a:t>
            </a:r>
            <a:r>
              <a:rPr lang="en-US" sz="9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机制本质：面向 LLM 的工具返回预算是一层隐藏的检索依赖。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4394150"/>
            <a:ext cx="6386271" cy="1878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脚本化图书管理员（词法扫描+字典序拼包，绕开引擎工具预算）同题 </a:t>
            </a:r>
            <a:r>
              <a:rPr lang="en-US" sz="1000" b="1" dirty="0">
                <a:solidFill>
                  <a:srgbClr val="C896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25.0s / 10.2s</a:t>
            </a:r>
            <a:r>
              <a:rPr lang="en-US" sz="100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双金标命中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950" y="4698950"/>
            <a:ext cx="6386271" cy="1564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工程严谨性：判卷门修正（拒答优先 + 结论窗口前 500 字）· vector baseline 跨库口径修复（金标 12/12）。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11901" y="507950"/>
            <a:ext cx="4663440" cy="1564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缺陷机制 · 概念示意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11901" y="4673501"/>
            <a:ext cx="4663440" cy="294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00" dirty="0">
                <a:solidFill>
                  <a:srgbClr val="6B6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 2 ｜ 同一机制的两面：左侧裸通道只拿到极小的预览纸片（海量目录被引擎收进档案柜）；右侧机械化扫描一盏透镜即挑出带金章的卡片。概念示意，非数据图。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7950" y="5079950"/>
            <a:ext cx="4063901" cy="1066800"/>
          </a:xfrm>
          <a:prstGeom prst="rect">
            <a:avLst/>
          </a:prstGeom>
          <a:solidFill>
            <a:srgbClr val="FEF9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7551" y="5194250"/>
            <a:ext cx="330101" cy="31700"/>
          </a:xfrm>
          <a:prstGeom prst="rect">
            <a:avLst/>
          </a:prstGeom>
          <a:solidFill>
            <a:srgbClr val="C896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7551" y="5302151"/>
            <a:ext cx="3860393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A/C 达到论文主结果标准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551" y="5497711"/>
            <a:ext cx="3860393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5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正确性 100%（通道2 门禁 A 3/3 · C 3/3；通道3 金标 6/6）；时延 36–65s；成本 $0.18–0.22/题；域外题拒答合规。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49701" y="5079950"/>
            <a:ext cx="3378101" cy="1066800"/>
          </a:xfrm>
          <a:prstGeom prst="rect">
            <a:avLst/>
          </a:prstGeom>
          <a:solidFill>
            <a:srgbClr val="F2F0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89302" y="5194250"/>
            <a:ext cx="330101" cy="31700"/>
          </a:xfrm>
          <a:prstGeom prst="rect">
            <a:avLst/>
          </a:prstGeom>
          <a:solidFill>
            <a:srgbClr val="C896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9302" y="5302151"/>
            <a:ext cx="3160877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 需修复 catalog 透传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89302" y="5497711"/>
            <a:ext cx="3160877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5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（分块/分页/脚本化 pre-scan）——工具返回预算是隐藏检索依赖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05800" y="5079950"/>
            <a:ext cx="3378101" cy="1066800"/>
          </a:xfrm>
          <a:prstGeom prst="rect">
            <a:avLst/>
          </a:prstGeom>
          <a:solidFill>
            <a:srgbClr val="F2F0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45401" y="5194250"/>
            <a:ext cx="330101" cy="31700"/>
          </a:xfrm>
          <a:prstGeom prst="rect">
            <a:avLst/>
          </a:prstGeom>
          <a:solidFill>
            <a:srgbClr val="C896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445401" y="5302151"/>
            <a:ext cx="3160877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负结果比全绿更有说服力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45401" y="5497711"/>
            <a:ext cx="3160877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50" dirty="0">
                <a:solidFill>
                  <a:srgbClr val="1E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三通道全部走官方对外 API，与外部调用方同构；数据含失败复现、根因定位与修复方向，可逐项回溯工件。</a:t>
            </a:r>
            <a:endParaRPr lang="en-US" sz="950" dirty="0"/>
          </a:p>
        </p:txBody>
      </p:sp>
      <p:pic>
        <p:nvPicPr>
          <p:cNvPr id="34" name="Image 0" descr="D:\codes\ClaudeGPT\rag_project\rag-knowledge\review\retrieval-e2e-20261012\ppt_workspace\garden-gpt-image-2\image\p03_fin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901" y="762000"/>
            <a:ext cx="3810000" cy="381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3711</Words>
  <Application>WPS 演示</Application>
  <PresentationFormat>On-screen Show (16:9)</PresentationFormat>
  <Paragraphs>257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9" baseType="lpstr">
      <vt:lpstr>Arial</vt:lpstr>
      <vt:lpstr>宋体</vt:lpstr>
      <vt:lpstr>Wingdings</vt:lpstr>
      <vt:lpstr>Georgia</vt:lpstr>
      <vt:lpstr>Georgia</vt:lpstr>
      <vt:lpstr>Georgia</vt:lpstr>
      <vt:lpstr>微软雅黑</vt:lpstr>
      <vt:lpstr>微软雅黑</vt:lpstr>
      <vt:lpstr>宋体</vt:lpstr>
      <vt:lpstr>Times New Roman</vt:lpstr>
      <vt:lpstr>Times New Roman</vt:lpstr>
      <vt:lpstr>Times New Roman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三种检索模式端到端实测 Benchmark 2026-10-12</dc:title>
  <dc:creator>RAG Knowledge Platform</dc:creator>
  <dc:subject>PptxGenJS Presentation</dc:subject>
  <cp:lastModifiedBy>QnQ</cp:lastModifiedBy>
  <cp:revision>2</cp:revision>
  <dcterms:created xsi:type="dcterms:W3CDTF">2026-10-12T11:42:00Z</dcterms:created>
  <dcterms:modified xsi:type="dcterms:W3CDTF">2026-10-12T16:46:18Z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6522C8CB870E454CA1775AF5FBC9BF09_12</vt:lpwstr>
  </property>
  <property fmtid="{D5CDD505-2E9C-101B-9397-08002B2CF9AE}" pid="3" name="KSOProductBuildVer">
    <vt:lpwstr>2052-12.1.0.28043</vt:lpwstr>
  </property>
</Properties>
</file>